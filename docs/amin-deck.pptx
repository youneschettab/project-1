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أمين أداة تسبق المراجع الشرعي فتكشف انحراف الدلالة الشرعية في الترجمات وتقترح التصحيح من مصادر معتمدة.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640080"/>
            <a:ext cx="1005840" cy="10058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0" y="640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أمين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أمين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مدقّق الأمانة الشرعية في ترجمات المحتوى الإسلامي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BFD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منهج السلف الصالح  •  العربية ← الإنجليزية والفرنسية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﴿ادْعُ إِلَىٰ سَبِيلِ رَبِّكَ بِالْحِكْمَةِ وَالْمَوْعِظَةِ الْحَسَنَةِ ۖ وَجَادِلْهُم بِالَّتِي هِيَ أَحْسَنُ﴾ [النحل: 125]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BFD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 02: صناعة المحتوى متعدد اللغات والتوطين الثقافي  |  تحدي الذكاء الاصطناعي في خدمة المحتوى الإسلامي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المشكلة: ترجمات تُنشر دون مراجعة شرعية كافية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الترجمة شرعيًّا تحتاج مختصًّا يجمع العلم الشرعي وإتقان اللغة الهدف، وهو نادر ومكلف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89320" y="141732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0E3B36"/>
          </a:solidFill>
          <a:ln w="12700">
            <a:solidFill>
              <a:srgbClr val="0E3B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72200" y="1645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651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الاستشهادات الإسلامية التي يولدها الذكاء الاصطناعي مختلقة أو غير دقيقة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3886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BFD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 2607.28237 (2026)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41732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645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5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651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روبوتات محادثة إسلامية بلغت مستوى «المخرج التعليمي الموثوق»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886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Digital Islamicate Research (2025)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41732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1645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651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الترجمة الآلية تضاعف الإنتاج وتضاعف الأخطاء الشرعية معه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886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IslamicEval 2025: مهمة بحثية كاملة لكشف الهلوسة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أمين — الشريحة 2 من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أمثلة على الانحراف الشرعي في الترجمة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الخطأ الشائع مقابل التصحيح وفق منهج السلف ومصادر مجمع الملك فهد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1325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5B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النوع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A8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الخطأ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E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التصحيح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23760" y="1691640"/>
            <a:ext cx="1463040" cy="475488"/>
          </a:xfrm>
          <a:prstGeom prst="roundRect">
            <a:avLst>
              <a:gd name="adj" fmla="val 23077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69480" y="169164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الصفات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691640"/>
            <a:ext cx="2834640" cy="475488"/>
          </a:xfrm>
          <a:prstGeom prst="roundRect">
            <a:avLst>
              <a:gd name="adj" fmla="val 23077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16916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A8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«يد الله» ← God's power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3566160" cy="475488"/>
          </a:xfrm>
          <a:prstGeom prst="roundRect">
            <a:avLst>
              <a:gd name="adj" fmla="val 23077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6916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 of Allah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23760" y="2276856"/>
            <a:ext cx="1463040" cy="475488"/>
          </a:xfrm>
          <a:prstGeom prst="roundRect">
            <a:avLst>
              <a:gd name="adj" fmla="val 23077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69480" y="227685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الصفات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2276856"/>
            <a:ext cx="2834640" cy="475488"/>
          </a:xfrm>
          <a:prstGeom prst="roundRect">
            <a:avLst>
              <a:gd name="adj" fmla="val 23077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227685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A8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«استوى» ← took control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276856"/>
            <a:ext cx="3566160" cy="475488"/>
          </a:xfrm>
          <a:prstGeom prst="roundRect">
            <a:avLst>
              <a:gd name="adj" fmla="val 23077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27685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Istawa (rose over) the Throne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2862072"/>
            <a:ext cx="1463040" cy="475488"/>
          </a:xfrm>
          <a:prstGeom prst="roundRect">
            <a:avLst>
              <a:gd name="adj" fmla="val 23077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69480" y="286207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حمولة دخيلة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06240" y="2862072"/>
            <a:ext cx="2834640" cy="475488"/>
          </a:xfrm>
          <a:prstGeom prst="roundRect">
            <a:avLst>
              <a:gd name="adj" fmla="val 23077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97680" y="28620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A8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«أولياء» ← saints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862072"/>
            <a:ext cx="3566160" cy="475488"/>
          </a:xfrm>
          <a:prstGeom prst="roundRect">
            <a:avLst>
              <a:gd name="adj" fmla="val 23077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86207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Auliya' of Allah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23760" y="3447288"/>
            <a:ext cx="1463040" cy="475488"/>
          </a:xfrm>
          <a:prstGeom prst="roundRect">
            <a:avLst>
              <a:gd name="adj" fmla="val 23077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69480" y="344728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مصطلح مسيء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06240" y="3447288"/>
            <a:ext cx="2834640" cy="475488"/>
          </a:xfrm>
          <a:prstGeom prst="roundRect">
            <a:avLst>
              <a:gd name="adj" fmla="val 23077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97680" y="344728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A8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«كافر» ← infidel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447288"/>
            <a:ext cx="3566160" cy="475488"/>
          </a:xfrm>
          <a:prstGeom prst="roundRect">
            <a:avLst>
              <a:gd name="adj" fmla="val 23077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344728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Kafir (Disbeliever)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23760" y="4032504"/>
            <a:ext cx="1463040" cy="475488"/>
          </a:xfrm>
          <a:prstGeom prst="roundRect">
            <a:avLst>
              <a:gd name="adj" fmla="val 23077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69480" y="403250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اختزال مخلّ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206240" y="4032504"/>
            <a:ext cx="2834640" cy="475488"/>
          </a:xfrm>
          <a:prstGeom prst="roundRect">
            <a:avLst>
              <a:gd name="adj" fmla="val 23077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97680" y="403250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A8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«صلاة» ← prayer وحدها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032504"/>
            <a:ext cx="3566160" cy="475488"/>
          </a:xfrm>
          <a:prstGeom prst="roundRect">
            <a:avLst>
              <a:gd name="adj" fmla="val 23077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403250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Salah (Prayer)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أمين — الشريحة 3 من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الحل: «أمين» يسبق المراجع فيوجّه جهده حيث يلزم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استخدام واحد مكتمل من الإدخال إلى التصدير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086600" y="155448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173736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78040" y="23774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الإدخال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78892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النص العربي والترجمة، واللغة، والجمهور المستهدف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931152" y="25146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40680" y="155448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155448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E6F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173736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23774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الفحص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278892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كشف الانحراف وفق سبعة أنواع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285232" y="25146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94760" y="155448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73736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97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886200" y="23774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التقرير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886200" y="278892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خلل ملوّن بخطورته مع التصحيح ومصدره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639312" y="25146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148840" y="155448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48840" y="155448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E6F2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51760" y="173736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517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2240280" y="23774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المراجعة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2240280" y="278892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قبول أو رفض، أو «ناقش هذا الموضع»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993392" y="25146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2920" y="155448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173736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58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23774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التصدير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278892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نسخة مصححة مع تقرير المراجعة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1F6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الأداة لا تُفتي ولا تترجم من الصفر: تراجع ترجمة جاهزة من حيث الأمانة الشرعية والمصطلحية وملاءمة الخطاب.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أمين — الشريحة 4 من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يعمل: قواعد حتمية + نموذج لغوي مقيّد بالمصادر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مرحلة تُسند نتيجتها إلى مصدر أو تحيل إلى مراجع بشري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663440" y="137160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1572768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48132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محاذاة الجمل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105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تضمينات لغوية متعددة اللغات تربط كل جملة عربية بمقابلها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1572768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048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48132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الفحص المصطلحي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8105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حتمية + تحليل صرفي عربي + قاموس معتمد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46888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2670048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5786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مطابقة النصوص الشرعية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90779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الآيات بالنص الموثق وترجمات مجمع الملك فهد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2670048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4048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5786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الفحص الدلالي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290779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لغوي بإخراج مقيّد + ترجمة عكسية + استرجاع (RAG)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56616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3767328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6758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ملاءمة الجمهور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40050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 الأسلوب بحسب ملف الجمهور الذي تختاره الجهة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56616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0" y="3767328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84048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36758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ناقش هذا الموضع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0050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إجابات من نقول حرفية معزوّة إلى الكتاب والصفحة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أمين — الشريحة 5 من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الموثوقية: يكتشف ولا يؤلف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الذهبية: اللفظ الشرعي بالحروف اللاتينية أولًا، ثم معناه بين قوسين، مع قاموس دعوي على منهج السلف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663440" y="1463040"/>
            <a:ext cx="4023360" cy="3063240"/>
          </a:xfrm>
          <a:prstGeom prst="roundRect">
            <a:avLst>
              <a:gd name="adj" fmla="val 3582"/>
            </a:avLst>
          </a:prstGeom>
          <a:solidFill>
            <a:srgbClr val="164B45"/>
          </a:solidFill>
          <a:ln w="12700">
            <a:solidFill>
              <a:srgbClr val="164B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4632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المصادر المعتمدة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94192" y="2185416"/>
            <a:ext cx="91440" cy="914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210312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مجمع الملك فهد: النص القرآني وترجمات المعاني، المرجع الأول لكل مقابل صحيح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394192" y="2962656"/>
            <a:ext cx="91440" cy="914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28803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الرئاسة العامة للإفتاء: فتاوى اللجنة الدائمة وهيئة كبار العلماء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94192" y="3739896"/>
            <a:ext cx="91440" cy="914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36576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كتب شيخ الإسلام ابن تيمية وأئمة السلف: نقل حرفي معزوّ إلى الكتاب والصفحة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4023360" cy="3063240"/>
          </a:xfrm>
          <a:prstGeom prst="roundRect">
            <a:avLst>
              <a:gd name="adj" fmla="val 3582"/>
            </a:avLst>
          </a:prstGeom>
          <a:solidFill>
            <a:srgbClr val="164B45"/>
          </a:solidFill>
          <a:ln w="12700">
            <a:solidFill>
              <a:srgbClr val="164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الامتناع والإحالة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87952" y="2185416"/>
            <a:ext cx="91440" cy="914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103120"/>
            <a:ext cx="3429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مصطلح خارج القاموس ← «يحتاج مراجعًا» دون اقتراح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87952" y="2660904"/>
            <a:ext cx="91440" cy="914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578608"/>
            <a:ext cx="3429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خلل بلا سند ← «اشتباه» مع بيان السبب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87952" y="3136392"/>
            <a:ext cx="91440" cy="914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054096"/>
            <a:ext cx="3429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مسألة عقدية دقيقة ← إحالة إلى المراجع الشرعي مع النقول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87952" y="3611880"/>
            <a:ext cx="91440" cy="914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529584"/>
            <a:ext cx="3429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آية غير مطابقة ← تنبيه عالي الخطورة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87952" y="4087368"/>
            <a:ext cx="91440" cy="914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005072"/>
            <a:ext cx="3429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يُفتي ولا يحكم على الأحاديث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BFD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أمين — الشريحة 6 من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الجديد: إضافات لا توفرها البدائل الحالية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0E3B36"/>
          </a:solidFill>
          <a:ln w="12700">
            <a:solidFill>
              <a:srgbClr val="0E3B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128016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325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تصنيف منهجي لسبعة أنواع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828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DD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أخطاء الترجمة الشرعية، قابل للقياس والاختبار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128016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048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325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الجمهور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828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خطاب الفلاسفة غير خطاب العامة والأطفال والمسلمين الجدد؛ الجهة تحدد جمهورها ولا تُستنتج سمات الأفراد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306324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1089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ناقش هذا الموضع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611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يناقش العالِم التنبيه فيحصل على الدليل والنقل الموثق، لا جوابًا مرسلًا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0" y="306324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404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1089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قاموس يتحسن بالاستخدام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611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قرارات المراجعين تُغذّي القاموس وتقلل الإنذارات الكاذبة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أمين — الشريحة 7 من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نثبت القيمة: مقارنة مرجعية قابلة لإعادة الاختبار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النتائج تُنشر في المستودع مع طريقة القياس وحدودها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663440" y="137160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463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مجموعة الاختبار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60920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50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60920" y="2606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فقرة مترجمة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150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2606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خطأ مزروع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606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أنواع خطأ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94192" y="3191256"/>
            <a:ext cx="91440" cy="914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108960"/>
            <a:ext cx="3429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فقرات سليمة تمامًا لقياس الإنذارات الكاذبة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94192" y="3611880"/>
            <a:ext cx="91440" cy="914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3529584"/>
            <a:ext cx="3429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حالات حرجة إلزامية: تأويل الصفات، تحريف آية، حذف نفي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94192" y="4032504"/>
            <a:ext cx="91440" cy="914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3950208"/>
            <a:ext cx="3429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تكرار التشغيل لقياس ثبات النتائج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137160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1481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A8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 الأساس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1828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لغوي عام يُطلب منه «راجع هذه الترجمة شرعيًّا» دون قاموس ولا أدوات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172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المؤشرات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187952" y="3630168"/>
            <a:ext cx="91440" cy="91440"/>
          </a:xfrm>
          <a:prstGeom prst="ellipse">
            <a:avLst/>
          </a:prstGeom>
          <a:solidFill>
            <a:srgbClr val="1E7B4F"/>
          </a:solidFill>
          <a:ln w="12700">
            <a:solidFill>
              <a:srgbClr val="1E7B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5478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الاستدعاء والدقة لكل نوع خطأ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87952" y="3931920"/>
            <a:ext cx="91440" cy="91440"/>
          </a:xfrm>
          <a:prstGeom prst="ellipse">
            <a:avLst/>
          </a:prstGeom>
          <a:solidFill>
            <a:srgbClr val="1E7B4F"/>
          </a:solidFill>
          <a:ln w="12700">
            <a:solidFill>
              <a:srgbClr val="1E7B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8496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التصحيحات المسندة إلى مصدر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87952" y="4233672"/>
            <a:ext cx="91440" cy="91440"/>
          </a:xfrm>
          <a:prstGeom prst="ellipse">
            <a:avLst/>
          </a:prstGeom>
          <a:solidFill>
            <a:srgbClr val="1E7B4F"/>
          </a:solidFill>
          <a:ln w="12700">
            <a:solidFill>
              <a:srgbClr val="1E7B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415137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زمن المراجعة البشرية مع الأداة ودونها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أمين — الشريحة 8 من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التنفيذ: منتج كامل في ثلاثة أيام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FastAPI  •  واجهة ويب ثلاثية اللغات  •  نشر على Render وCloudflare Pages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7498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1627632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0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2240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التحدي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060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القاموس ومجموعة الاختبار والتصميم (بيانات فقط، تُوثَّق نسخة بداية)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0" y="1627632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0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اليوم 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060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المحاذاة، الفحص المصطلحي، مطابقة الآيات، سكربت التقييم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627632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91840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2240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اليوم 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26060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الفحص الدلالي، ملاءمة الجمهور، «ناقش هذا الموضع»، واجهة المراجع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80160" y="1627632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80160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240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اليوم 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26060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 ونشر النتائج، الرابط المباشر، التوثيق والفيديو والعرض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0" y="3749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E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المخاطر والبدائل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65392" y="3849624"/>
            <a:ext cx="91440" cy="914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17520" y="3767328"/>
            <a:ext cx="3429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تعطل النموذج ← مزود بديل، والفحص الحتمي يبقى يعمل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65392" y="4178808"/>
            <a:ext cx="91440" cy="914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17520" y="4096512"/>
            <a:ext cx="3429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قيود الترخيص ← الاقتصار على المتاح وتوثيقه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16352" y="3849624"/>
            <a:ext cx="91440" cy="914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3767328"/>
            <a:ext cx="2057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B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كثرة الإنذارات ← الدقة هدف معلن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أمين — الشريحة 9 من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الأثر وخطة الاستمرار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89320" y="118872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164B45"/>
          </a:solidFill>
          <a:ln w="12700">
            <a:solidFill>
              <a:srgbClr val="164B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172200" y="1325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الآن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645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أمين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148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DD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الترجمات الدعوية بالإنجليزية والفرنسية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164B45"/>
          </a:solidFill>
          <a:ln w="12700">
            <a:solidFill>
              <a:srgbClr val="164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325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645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لغات أكثر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148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DD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الإسبانية والأردية والسواحيلية وغيرها بالشراكة مع مراكز الترجمة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18872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164B45"/>
          </a:solidFill>
          <a:ln w="12700">
            <a:solidFill>
              <a:srgbClr val="164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325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1645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 بحثي للعلماء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148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DD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يناقشه العالِم ليستخلص الأحكام ويراجع علمه، استنادًا إلى كتب السلف مع العزو الحرفي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الاستدامة: قاموس يتحسن بقرارات المراجعين، ومراجعة شرعية دورية، وخدمة تُقدَّم للجهات الدعوية ومراكز الترجمة.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BFD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أمين — الشريحة 10 من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أمين — مدقق الأمانة الشرعية في الترجمات</dc:title>
  <dc:subject>PptxGenJS Presentation</dc:subject>
  <dc:creator>PptxGenJS</dc:creator>
  <cp:lastModifiedBy>PptxGenJS</cp:lastModifiedBy>
  <cp:revision>1</cp:revision>
  <dcterms:created xsi:type="dcterms:W3CDTF">2026-09-25T22:36:46Z</dcterms:created>
  <dcterms:modified xsi:type="dcterms:W3CDTF">2026-09-25T22:36:46Z</dcterms:modified>
</cp:coreProperties>
</file>